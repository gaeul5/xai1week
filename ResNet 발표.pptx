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7" r:id="rId12"/>
    <p:sldId id="259" r:id="rId13"/>
  </p:sldIdLst>
  <p:sldSz cx="18288000" cy="10287000"/>
  <p:notesSz cx="6858000" cy="9144000"/>
  <p:embeddedFontLst>
    <p:embeddedFont>
      <p:font typeface="NanumGothic" panose="020D0604000000000000" charset="-127"/>
      <p:regular r:id="rId14"/>
      <p:bold r:id="rId15"/>
    </p:embeddedFont>
    <p:embeddedFont>
      <p:font typeface="Nanum Gothic Bold" panose="020D0604000000000000" pitchFamily="34" charset="-127"/>
      <p:regular r:id="rId16"/>
      <p:bold r:id="rId17"/>
    </p:embeddedFont>
    <p:embeddedFont>
      <p:font typeface="Nanum Gothic Ultra-Bold" panose="020D0604000000000000" pitchFamily="34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0" autoAdjust="0"/>
    <p:restoredTop sz="94654" autoAdjust="0"/>
  </p:normalViewPr>
  <p:slideViewPr>
    <p:cSldViewPr>
      <p:cViewPr varScale="1">
        <p:scale>
          <a:sx n="72" d="100"/>
          <a:sy n="72" d="100"/>
        </p:scale>
        <p:origin x="48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2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WhiteCard"/>
          <p:cNvSpPr/>
          <p:nvPr/>
        </p:nvSpPr>
        <p:spPr>
          <a:xfrm>
            <a:off x="499144" y="415255"/>
            <a:ext cx="17560255" cy="9456489"/>
          </a:xfrm>
          <a:prstGeom prst="roundRect">
            <a:avLst>
              <a:gd name="adj" fmla="val 20000"/>
            </a:avLst>
          </a:prstGeom>
          <a:solidFill>
            <a:srgbClr val="FFFFFF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5" name="LogoImg"/>
          <p:cNvSpPr/>
          <p:nvPr/>
        </p:nvSpPr>
        <p:spPr>
          <a:xfrm>
            <a:off x="16647228" y="784795"/>
            <a:ext cx="698046" cy="67797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6" name="SchoolName"/>
          <p:cNvSpPr txBox="1"/>
          <p:nvPr/>
        </p:nvSpPr>
        <p:spPr>
          <a:xfrm>
            <a:off x="15062109" y="829106"/>
            <a:ext cx="1514634" cy="78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7" b="1" dirty="0" err="1">
                <a:latin typeface="Nanum Gothic Bold"/>
                <a:ea typeface="Nanum Gothic Bold"/>
              </a:rPr>
              <a:t>국민대학교</a:t>
            </a:r>
            <a:endParaRPr lang="en-US" sz="1517" b="1" dirty="0">
              <a:latin typeface="Nanum Gothic Bold"/>
              <a:ea typeface="Nanum Gothic Bold"/>
            </a:endParaRPr>
          </a:p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7" b="1" dirty="0" err="1">
                <a:latin typeface="Nanum Gothic Bold"/>
                <a:ea typeface="Nanum Gothic Bold"/>
              </a:rPr>
              <a:t>인공지능학회</a:t>
            </a:r>
            <a:endParaRPr lang="en-US" sz="1517" b="1" dirty="0">
              <a:latin typeface="Nanum Gothic Bold"/>
              <a:ea typeface="Nanum Gothic Bold"/>
            </a:endParaRPr>
          </a:p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7" b="1" dirty="0">
                <a:latin typeface="Nanum Gothic Bold"/>
                <a:ea typeface="Nanum Gothic Bold"/>
              </a:rPr>
              <a:t>X:AI</a:t>
            </a:r>
          </a:p>
        </p:txBody>
      </p:sp>
      <p:sp>
        <p:nvSpPr>
          <p:cNvPr id="10" name="SeminarBadge"/>
          <p:cNvSpPr/>
          <p:nvPr/>
        </p:nvSpPr>
        <p:spPr>
          <a:xfrm>
            <a:off x="1910808" y="2100000"/>
            <a:ext cx="2813591" cy="450000"/>
          </a:xfrm>
          <a:prstGeom prst="roundRect">
            <a:avLst>
              <a:gd name="adj" fmla="val 50000"/>
            </a:avLst>
          </a:prstGeom>
          <a:solidFill>
            <a:srgbClr val="BD2315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eminarText"/>
          <p:cNvSpPr txBox="1"/>
          <p:nvPr/>
        </p:nvSpPr>
        <p:spPr>
          <a:xfrm>
            <a:off x="1910809" y="2120000"/>
            <a:ext cx="2813591" cy="42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500"/>
              </a:lnSpc>
            </a:pPr>
            <a:r>
              <a:rPr lang="en-US" sz="1800" b="1" dirty="0">
                <a:solidFill>
                  <a:srgbClr val="FFFFFF"/>
                </a:solidFill>
                <a:latin typeface="Nanum Gothic Bold"/>
                <a:ea typeface="Nanum Gothic Bold"/>
              </a:rPr>
              <a:t>X:AI </a:t>
            </a:r>
            <a:r>
              <a:rPr lang="en-US" altLang="ko-KR" b="1" dirty="0">
                <a:solidFill>
                  <a:srgbClr val="FFFFFF"/>
                </a:solidFill>
                <a:latin typeface="Nanum Gothic Bold"/>
                <a:ea typeface="Nanum Gothic Bold"/>
              </a:rPr>
              <a:t>1st</a:t>
            </a:r>
            <a:r>
              <a:rPr lang="en-US" sz="1800" b="1" dirty="0">
                <a:solidFill>
                  <a:srgbClr val="FFFFFF"/>
                </a:solidFill>
                <a:latin typeface="Nanum Gothic Bold"/>
                <a:ea typeface="Nanum Gothic Bold"/>
              </a:rPr>
              <a:t> Seminar 2026</a:t>
            </a:r>
          </a:p>
        </p:txBody>
      </p:sp>
      <p:sp>
        <p:nvSpPr>
          <p:cNvPr id="12" name="MainTitle"/>
          <p:cNvSpPr txBox="1"/>
          <p:nvPr/>
        </p:nvSpPr>
        <p:spPr>
          <a:xfrm>
            <a:off x="1910809" y="2700000"/>
            <a:ext cx="7800000" cy="28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0" b="1">
                <a:solidFill>
                  <a:srgbClr val="000000"/>
                </a:solidFill>
                <a:latin typeface="Nanum Gothic Ultra-Bold"/>
                <a:ea typeface="Nanum Gothic Ultra-Bold"/>
              </a:rPr>
              <a:t>Deep Residual</a:t>
            </a:r>
          </a:p>
          <a:p>
            <a:pPr algn="l">
              <a:lnSpc>
                <a:spcPts val="5800"/>
              </a:lnSpc>
              <a:spcBef>
                <a:spcPct val="0"/>
              </a:spcBef>
            </a:pPr>
            <a:r>
              <a:rPr lang="en-US" sz="4200" b="1">
                <a:solidFill>
                  <a:srgbClr val="BD2315"/>
                </a:solidFill>
                <a:latin typeface="Nanum Gothic Ultra-Bold"/>
                <a:ea typeface="Nanum Gothic Ultra-Bold"/>
              </a:rPr>
              <a:t>Learning</a:t>
            </a:r>
          </a:p>
          <a:p>
            <a:pPr algn="l">
              <a:lnSpc>
                <a:spcPts val="580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Nanum Gothic Ultra-Bold"/>
                <a:ea typeface="Nanum Gothic Ultra-Bold"/>
              </a:rPr>
              <a:t>for Image Recognition</a:t>
            </a:r>
          </a:p>
        </p:txBody>
      </p:sp>
      <p:sp>
        <p:nvSpPr>
          <p:cNvPr id="13" name="Authors"/>
          <p:cNvSpPr txBox="1"/>
          <p:nvPr/>
        </p:nvSpPr>
        <p:spPr>
          <a:xfrm>
            <a:off x="1910809" y="5600000"/>
            <a:ext cx="7800000" cy="8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00">
                <a:solidFill>
                  <a:srgbClr val="000000"/>
                </a:solidFill>
                <a:latin typeface="NanumGothic"/>
                <a:ea typeface="NanumGothic"/>
              </a:rPr>
              <a:t>Kaiming He, Xiangyu Zhang, Shaoqing Ren, Jian Sun</a:t>
            </a:r>
          </a:p>
        </p:txBody>
      </p:sp>
      <p:sp>
        <p:nvSpPr>
          <p:cNvPr id="14" name="Journal"/>
          <p:cNvSpPr txBox="1"/>
          <p:nvPr/>
        </p:nvSpPr>
        <p:spPr>
          <a:xfrm>
            <a:off x="1910809" y="6500000"/>
            <a:ext cx="7800000" cy="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00">
                <a:solidFill>
                  <a:srgbClr val="737373"/>
                </a:solidFill>
                <a:latin typeface="NanumGothic"/>
                <a:ea typeface="NanumGothic"/>
              </a:rPr>
              <a:t>CVPR 2016  |  Microsoft Research</a:t>
            </a:r>
          </a:p>
        </p:txBody>
      </p:sp>
      <p:sp>
        <p:nvSpPr>
          <p:cNvPr id="15" name="DatePresenter"/>
          <p:cNvSpPr txBox="1"/>
          <p:nvPr/>
        </p:nvSpPr>
        <p:spPr>
          <a:xfrm>
            <a:off x="1910809" y="7500000"/>
            <a:ext cx="7800000" cy="63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 dirty="0">
                <a:solidFill>
                  <a:srgbClr val="000000"/>
                </a:solidFill>
                <a:latin typeface="NanumGothic"/>
                <a:ea typeface="NanumGothic"/>
              </a:rPr>
              <a:t>2026.04.0</a:t>
            </a:r>
            <a:r>
              <a:rPr lang="en-US" altLang="ko-KR" sz="1800" dirty="0">
                <a:solidFill>
                  <a:srgbClr val="000000"/>
                </a:solidFill>
                <a:latin typeface="NanumGothic"/>
                <a:ea typeface="NanumGothic"/>
              </a:rPr>
              <a:t>9</a:t>
            </a:r>
            <a:r>
              <a:rPr lang="en-US" sz="1800" dirty="0">
                <a:solidFill>
                  <a:srgbClr val="000000"/>
                </a:solidFill>
                <a:latin typeface="NanumGothic"/>
                <a:ea typeface="NanumGothic"/>
              </a:rPr>
              <a:t>.  X:AI </a:t>
            </a:r>
            <a:r>
              <a:rPr lang="en-US" altLang="ko-KR" sz="1800" dirty="0">
                <a:solidFill>
                  <a:srgbClr val="000000"/>
                </a:solidFill>
                <a:latin typeface="NanumGothic"/>
                <a:ea typeface="NanumGothic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NanumGothic"/>
                <a:ea typeface="NanumGothic"/>
              </a:rPr>
              <a:t>st</a:t>
            </a:r>
            <a:r>
              <a:rPr lang="en-US" sz="1800" dirty="0">
                <a:solidFill>
                  <a:srgbClr val="000000"/>
                </a:solidFill>
                <a:latin typeface="NanumGothic"/>
                <a:ea typeface="NanumGothic"/>
              </a:rPr>
              <a:t> Seminar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000000"/>
                </a:solidFill>
                <a:latin typeface="NanumGothic"/>
                <a:ea typeface="NanumGothic"/>
              </a:rPr>
              <a:t>국민대학교</a:t>
            </a:r>
            <a:r>
              <a:rPr lang="en-US" sz="1800" dirty="0">
                <a:solidFill>
                  <a:srgbClr val="000000"/>
                </a:solidFill>
                <a:latin typeface="NanumGothic"/>
                <a:ea typeface="NanumGothic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NanumGothic"/>
                <a:ea typeface="NanumGothic"/>
              </a:rPr>
              <a:t>인공지능학회</a:t>
            </a:r>
            <a:r>
              <a:rPr lang="en-US" sz="1800" dirty="0">
                <a:solidFill>
                  <a:srgbClr val="000000"/>
                </a:solidFill>
                <a:latin typeface="NanumGothic"/>
                <a:ea typeface="NanumGothic"/>
              </a:rPr>
              <a:t> X:AI  /  </a:t>
            </a:r>
            <a:r>
              <a:rPr lang="ko-KR" altLang="en-US" dirty="0">
                <a:solidFill>
                  <a:srgbClr val="000000"/>
                </a:solidFill>
                <a:latin typeface="NanumGothic"/>
                <a:ea typeface="NanumGothic"/>
              </a:rPr>
              <a:t>유가을 </a:t>
            </a:r>
            <a:r>
              <a:rPr lang="en-US" altLang="ko-KR" dirty="0" err="1">
                <a:solidFill>
                  <a:srgbClr val="000000"/>
                </a:solidFill>
                <a:latin typeface="NanumGothic"/>
                <a:ea typeface="NanumGothic"/>
              </a:rPr>
              <a:t>autumnqp</a:t>
            </a:r>
            <a:r>
              <a:rPr lang="en-US" sz="1800" dirty="0" err="1">
                <a:solidFill>
                  <a:srgbClr val="000000"/>
                </a:solidFill>
                <a:latin typeface="NanumGothic"/>
                <a:ea typeface="NanumGothic"/>
              </a:rPr>
              <a:t>@kookmin.ac.kr</a:t>
            </a:r>
            <a:endParaRPr lang="en-US" sz="1800" dirty="0">
              <a:solidFill>
                <a:srgbClr val="000000"/>
              </a:solidFill>
              <a:latin typeface="NanumGothic"/>
              <a:ea typeface="Nanum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9951B57A-0EEC-E366-B41E-2266471D237E}"/>
              </a:ext>
            </a:extLst>
          </p:cNvPr>
          <p:cNvSpPr/>
          <p:nvPr/>
        </p:nvSpPr>
        <p:spPr>
          <a:xfrm>
            <a:off x="458000" y="1549579"/>
            <a:ext cx="17289709" cy="7348756"/>
          </a:xfrm>
          <a:custGeom>
            <a:avLst/>
            <a:gdLst/>
            <a:ahLst/>
            <a:cxnLst/>
            <a:rect l="l" t="t" r="r" b="b"/>
            <a:pathLst>
              <a:path w="4553668" h="1935475">
                <a:moveTo>
                  <a:pt x="28658" y="0"/>
                </a:moveTo>
                <a:lnTo>
                  <a:pt x="4525011" y="0"/>
                </a:lnTo>
                <a:cubicBezTo>
                  <a:pt x="4532611" y="0"/>
                  <a:pt x="4539900" y="3019"/>
                  <a:pt x="4545274" y="8394"/>
                </a:cubicBezTo>
                <a:cubicBezTo>
                  <a:pt x="4550649" y="13768"/>
                  <a:pt x="4553668" y="21057"/>
                  <a:pt x="4553668" y="28658"/>
                </a:cubicBezTo>
                <a:lnTo>
                  <a:pt x="4553668" y="1906817"/>
                </a:lnTo>
                <a:cubicBezTo>
                  <a:pt x="4553668" y="1914417"/>
                  <a:pt x="4550649" y="1921707"/>
                  <a:pt x="4545274" y="1927081"/>
                </a:cubicBezTo>
                <a:cubicBezTo>
                  <a:pt x="4539900" y="1932455"/>
                  <a:pt x="4532611" y="1935475"/>
                  <a:pt x="4525011" y="1935475"/>
                </a:cubicBezTo>
                <a:lnTo>
                  <a:pt x="28658" y="1935475"/>
                </a:lnTo>
                <a:cubicBezTo>
                  <a:pt x="21057" y="1935475"/>
                  <a:pt x="13768" y="1932455"/>
                  <a:pt x="8394" y="1927081"/>
                </a:cubicBezTo>
                <a:cubicBezTo>
                  <a:pt x="3019" y="1921707"/>
                  <a:pt x="0" y="1914417"/>
                  <a:pt x="0" y="1906817"/>
                </a:cubicBezTo>
                <a:lnTo>
                  <a:pt x="0" y="28658"/>
                </a:lnTo>
                <a:cubicBezTo>
                  <a:pt x="0" y="21057"/>
                  <a:pt x="3019" y="13768"/>
                  <a:pt x="8394" y="8394"/>
                </a:cubicBezTo>
                <a:cubicBezTo>
                  <a:pt x="13768" y="3019"/>
                  <a:pt x="21057" y="0"/>
                  <a:pt x="2865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ko-Kore-KR" altLang="en-US" dirty="0"/>
          </a:p>
        </p:txBody>
      </p:sp>
      <p:sp>
        <p:nvSpPr>
          <p:cNvPr id="4" name="FootText"/>
          <p:cNvSpPr txBox="1"/>
          <p:nvPr/>
        </p:nvSpPr>
        <p:spPr>
          <a:xfrm>
            <a:off x="14688277" y="601665"/>
            <a:ext cx="2100564" cy="493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국민대학교</a:t>
            </a:r>
            <a:endParaRPr lang="en-US" sz="1462" b="1" dirty="0">
              <a:solidFill>
                <a:srgbClr val="FFFFFF"/>
              </a:solidFill>
              <a:latin typeface="Nanum Gothic Bold"/>
              <a:ea typeface="Nanum Gothic Bold"/>
            </a:endParaRPr>
          </a:p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5" name="FootLogo"/>
          <p:cNvSpPr/>
          <p:nvPr/>
        </p:nvSpPr>
        <p:spPr>
          <a:xfrm>
            <a:off x="16230600" y="186245"/>
            <a:ext cx="1160025" cy="1126668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9" name="CTTitle"/>
          <p:cNvSpPr txBox="1"/>
          <p:nvPr/>
        </p:nvSpPr>
        <p:spPr>
          <a:xfrm>
            <a:off x="565763" y="526774"/>
            <a:ext cx="8000000" cy="6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 dirty="0">
                <a:solidFill>
                  <a:schemeClr val="bg1"/>
                </a:solidFill>
                <a:latin typeface="Nanum Gothic Bold"/>
                <a:ea typeface="Nanum Gothic Bold"/>
              </a:rPr>
              <a:t>CONTENTS</a:t>
            </a:r>
          </a:p>
        </p:txBody>
      </p:sp>
      <p:sp>
        <p:nvSpPr>
          <p:cNvPr id="99" name="LineSep"/>
          <p:cNvSpPr/>
          <p:nvPr/>
        </p:nvSpPr>
        <p:spPr>
          <a:xfrm flipV="1">
            <a:off x="457200" y="1863334"/>
            <a:ext cx="17289709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N20"/>
          <p:cNvSpPr txBox="1"/>
          <p:nvPr/>
        </p:nvSpPr>
        <p:spPr>
          <a:xfrm>
            <a:off x="942600" y="210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01</a:t>
            </a:r>
          </a:p>
        </p:txBody>
      </p:sp>
      <p:sp>
        <p:nvSpPr>
          <p:cNvPr id="21" name="TT20"/>
          <p:cNvSpPr txBox="1"/>
          <p:nvPr/>
        </p:nvSpPr>
        <p:spPr>
          <a:xfrm>
            <a:off x="1748800" y="2262892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Background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왜 깊은 네트워크가 필요한가?</a:t>
            </a:r>
          </a:p>
        </p:txBody>
      </p:sp>
      <p:sp>
        <p:nvSpPr>
          <p:cNvPr id="24" name="TN24"/>
          <p:cNvSpPr txBox="1"/>
          <p:nvPr/>
        </p:nvSpPr>
        <p:spPr>
          <a:xfrm>
            <a:off x="942600" y="445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02</a:t>
            </a:r>
          </a:p>
        </p:txBody>
      </p:sp>
      <p:sp>
        <p:nvSpPr>
          <p:cNvPr id="25" name="TT24"/>
          <p:cNvSpPr txBox="1"/>
          <p:nvPr/>
        </p:nvSpPr>
        <p:spPr>
          <a:xfrm>
            <a:off x="1825000" y="4630835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Residual Learning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H(x) 대신 F(x)를 학습하는 아이디어</a:t>
            </a:r>
          </a:p>
        </p:txBody>
      </p:sp>
      <p:sp>
        <p:nvSpPr>
          <p:cNvPr id="28" name="TN28"/>
          <p:cNvSpPr txBox="1"/>
          <p:nvPr/>
        </p:nvSpPr>
        <p:spPr>
          <a:xfrm>
            <a:off x="942600" y="680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03</a:t>
            </a:r>
          </a:p>
        </p:txBody>
      </p:sp>
      <p:sp>
        <p:nvSpPr>
          <p:cNvPr id="29" name="TT28"/>
          <p:cNvSpPr txBox="1"/>
          <p:nvPr/>
        </p:nvSpPr>
        <p:spPr>
          <a:xfrm>
            <a:off x="1825000" y="6998778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Shortcut Connection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Identity vs Projection</a:t>
            </a:r>
          </a:p>
        </p:txBody>
      </p:sp>
      <p:sp>
        <p:nvSpPr>
          <p:cNvPr id="40" name="TN40"/>
          <p:cNvSpPr txBox="1"/>
          <p:nvPr/>
        </p:nvSpPr>
        <p:spPr>
          <a:xfrm>
            <a:off x="9400000" y="210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04</a:t>
            </a:r>
          </a:p>
        </p:txBody>
      </p:sp>
      <p:sp>
        <p:nvSpPr>
          <p:cNvPr id="41" name="TT40"/>
          <p:cNvSpPr txBox="1"/>
          <p:nvPr/>
        </p:nvSpPr>
        <p:spPr>
          <a:xfrm>
            <a:off x="10249828" y="2262892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Plain vs ResNet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아키텍처 비교</a:t>
            </a:r>
          </a:p>
        </p:txBody>
      </p:sp>
      <p:sp>
        <p:nvSpPr>
          <p:cNvPr id="44" name="TN44"/>
          <p:cNvSpPr txBox="1"/>
          <p:nvPr/>
        </p:nvSpPr>
        <p:spPr>
          <a:xfrm>
            <a:off x="9400000" y="445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05</a:t>
            </a:r>
          </a:p>
        </p:txBody>
      </p:sp>
      <p:sp>
        <p:nvSpPr>
          <p:cNvPr id="45" name="TT44"/>
          <p:cNvSpPr txBox="1"/>
          <p:nvPr/>
        </p:nvSpPr>
        <p:spPr>
          <a:xfrm>
            <a:off x="10249828" y="4538960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ImageNet Results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실험적 검증</a:t>
            </a:r>
          </a:p>
        </p:txBody>
      </p:sp>
      <p:sp>
        <p:nvSpPr>
          <p:cNvPr id="48" name="TN48"/>
          <p:cNvSpPr txBox="1"/>
          <p:nvPr/>
        </p:nvSpPr>
        <p:spPr>
          <a:xfrm>
            <a:off x="9400000" y="6800000"/>
            <a:ext cx="680000" cy="7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800"/>
              </a:lnSpc>
            </a:pPr>
            <a:r>
              <a:rPr lang="en-US" sz="4200" b="1" dirty="0">
                <a:solidFill>
                  <a:srgbClr val="BE0000"/>
                </a:solidFill>
                <a:latin typeface="Nanum Gothic Bold"/>
                <a:ea typeface="Nanum Gothic Bold"/>
              </a:rPr>
              <a:t>06</a:t>
            </a:r>
          </a:p>
        </p:txBody>
      </p:sp>
      <p:sp>
        <p:nvSpPr>
          <p:cNvPr id="49" name="TT48"/>
          <p:cNvSpPr txBox="1"/>
          <p:nvPr/>
        </p:nvSpPr>
        <p:spPr>
          <a:xfrm>
            <a:off x="10249828" y="6899109"/>
            <a:ext cx="770000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300" b="1" dirty="0">
                <a:solidFill>
                  <a:srgbClr val="111111"/>
                </a:solidFill>
                <a:latin typeface="Nanum Gothic Bold"/>
                <a:ea typeface="Nanum Gothic Bold"/>
              </a:rPr>
              <a:t>Bottleneck &amp; Summary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1700" dirty="0">
                <a:solidFill>
                  <a:srgbClr val="666666"/>
                </a:solidFill>
                <a:latin typeface="NanumGothic"/>
                <a:ea typeface="NanumGothic"/>
              </a:rPr>
              <a:t>효율적 설계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Bar"/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4" name="FootText"/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5" name="FootLogo"/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[01]  Background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왜 깊은 네트워크가 필요한가?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8000000" cy="75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깊이(Depth)와 성능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깊은 신경망 = 더 풍부한 Feature 표현 가능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VGG, GoogLeNet의 성공으로 Depth의 중요성 입증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단순히 층을 쌓으면 될까?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1" dirty="0">
              <a:solidFill>
                <a:srgbClr val="111111"/>
              </a:solidFill>
              <a:latin typeface="Nanum Gothic Bold"/>
              <a:ea typeface="Nanum Gothic Bold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✕  Degradation Problem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깊이가 깊어질수록 Training Error가 오히려 증가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Overfitting이 아닌 최적화 자체의 문제!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144100-9F3E-03AB-23D5-758CA4D5C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868" y="3730302"/>
            <a:ext cx="11081369" cy="369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[02]  Residual Learning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H(x) 대신 F(x)+x를 학습한다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8000000" cy="75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기존 방식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각 레이어가 H(x)를 직접 학습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잔차 학습 (Residual Learning)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F(x) := H(x) - x 를 학습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출력 = F(x) + x  (shortcut 연결로 구현)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왜 더 쉬운가?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최적 함수가 항등함수에 가깝다면,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F(x)를 0에 가깝게 만드는 것이 훨씬 쉬움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핵심 수식: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   y = F(x, {Wi}) + x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   F(x) = W2 · σ(W1 · x)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C6BF451D-351B-FF7F-D9EF-28A6C4886489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587CF87A-91F6-BAE8-4B34-0CDA3AA64DAD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4A6F8402-DBFF-F495-444D-CA49F50983B3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47E3CE-8046-79FF-5286-3C56A4071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318235"/>
            <a:ext cx="7925983" cy="442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[03]  Shortcut Connection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Identity vs Projection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17160000" cy="34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Identity Shortcut  (차원이 같을 때)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y = F(x) + x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파라미터·계산 비용 추가 없음 — 가장 이상적인 형태 (Eq. 1)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Projection Shortcut  (차원이 다를 때)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y = F(x) + Ws·x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1×1 Conv로 차원을 맞춤 — 파라미터 소량 증가 (Eq. 2)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   두 방식 모두 Degradation 문제를 해결함을 실험으로 확인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47285D58-62CD-AF66-00F1-6936C27060CE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970EBFC2-D723-3A3D-67A7-01F46FE81973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CC43ED14-3ABB-5243-5FB0-3B764E101CF2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559EB8-8899-E158-444B-8E5384F1B5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5"/>
          <a:stretch>
            <a:fillRect/>
          </a:stretch>
        </p:blipFill>
        <p:spPr bwMode="auto">
          <a:xfrm rot="16200000">
            <a:off x="7504903" y="1122340"/>
            <a:ext cx="3735397" cy="128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[04]  Plain vs ResNet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아키텍처 비교 — 같은 FLOPs, 다른 결과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17160000" cy="28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Plain Network (34 레이어)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VGG 철학 기반, 3×3 Conv 반복 — 층이 깊어질수록 오히려 성능 저하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Residual Network (34 레이어)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같은 구조 + Shortcut 추가 — 같은 FLOPs·파라미터로 더 높은 정확도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A7F2CEDF-B6CF-59A0-B9EF-210DB5D46195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5D2E882C-C9DE-74AB-B6F2-15C9F3A874C0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1F05A031-352C-BDBB-61FC-A4C98E56CD61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65BAB38-2245-31A3-F038-CBDA611CA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406" y="5387001"/>
            <a:ext cx="5511800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1AF1E64-3527-9180-6B27-2B8890D99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163833"/>
            <a:ext cx="3062288" cy="699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[05]  ImageNet Results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실험적 검증 — Plain vs ResNet 학습 곡선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17160000" cy="24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50" b="1" dirty="0">
                <a:solidFill>
                  <a:srgbClr val="BE0000"/>
                </a:solidFill>
                <a:latin typeface="Nanum Gothic Bold"/>
                <a:ea typeface="Nanum Gothic Bold"/>
              </a:rPr>
              <a:t>❶  Plain-34 &gt; Plain-18 에러  →  Degradation 확인!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50" b="1" dirty="0">
                <a:solidFill>
                  <a:srgbClr val="111111"/>
                </a:solidFill>
                <a:latin typeface="Nanum Gothic Bold"/>
                <a:ea typeface="Nanum Gothic Bold"/>
              </a:rPr>
              <a:t>❷  ResNet-34 &lt; ResNet-18 에러  →  잔차 학습이 Degradation을 역전시킴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50" b="0" dirty="0">
                <a:solidFill>
                  <a:srgbClr val="333333"/>
                </a:solidFill>
                <a:latin typeface="NanumGothic"/>
                <a:ea typeface="NanumGothic"/>
              </a:rPr>
              <a:t>❸  18-layer에서도 ResNet이 Plain보다 빠르게 수렴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5FAA5EF2-0643-C51B-F751-CFA20376AE4C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E3A38952-19BF-3DDC-5D34-83C86AAC9B34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3E83A6C7-B07B-C965-DE3A-B93AF7DB9D77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FC4525C-0B87-4C2F-7F4E-E4BFB96F2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48" y="4062354"/>
            <a:ext cx="155067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[05]  ImageNet Results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Table 3 — 모델별 에러율 비교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17160000" cy="24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5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깊이가 깊어질수록 ResNet 성능 계속 상승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50" b="0" dirty="0">
                <a:solidFill>
                  <a:srgbClr val="333333"/>
                </a:solidFill>
                <a:latin typeface="NanumGothic"/>
                <a:ea typeface="NanumGothic"/>
              </a:rPr>
              <a:t>   ResNet-152: Top-5 Error 5.71%  (단일 모델)  /  VGG-16: 9.33% 대비 대폭 향상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50" b="1" dirty="0">
                <a:solidFill>
                  <a:srgbClr val="BE0000"/>
                </a:solidFill>
                <a:latin typeface="Nanum Gothic Bold"/>
                <a:ea typeface="Nanum Gothic Bold"/>
              </a:rPr>
              <a:t>   Ensemble: Top-5 Error 3.57%  →  ILSVRC 2015 분류 1위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761337BC-2F98-7455-716E-54AB55885076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CE19B7B5-98B8-CF17-E8FA-707CBCB90A98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B9116A8D-E20F-7540-F428-6E38D2B12CF1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CAC5404-F619-DB7A-A5AD-046C795C8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363" y="3848100"/>
            <a:ext cx="5892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[06]  Bottleneck Design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효율적인 깊이 확장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8000000" cy="75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Basic Block  (18 / 34 레이어용)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3×3 Conv + 3×3 Conv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Bottleneck Block  (50 / 101 / 152 레이어용)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1×1 Conv  →  채널 축소 (차원 ↓)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3×3 Conv  →  실질적인 합성곱 연산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1×1 Conv  →  채널 복원 (차원 ↑)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■  효과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FLOPs는 비슷하면서 한 층 더 깊은 표현 가능</a:t>
            </a:r>
          </a:p>
          <a:p>
            <a:pPr algn="l">
              <a:lnSpc>
                <a:spcPts val="270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   152 레이어도 VGG보다 낮은 연산량!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A22317F8-4A06-915D-A5F8-6F132A36FC54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05C7A8D9-3CF2-E11B-3395-4C86CA4A70C3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82600389-1ED9-A205-1165-E91AEFD6E556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F67765A-91F7-B717-9A0E-4FAD3AA99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009907"/>
            <a:ext cx="11266710" cy="400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inTitle"/>
          <p:cNvSpPr txBox="1"/>
          <p:nvPr/>
        </p:nvSpPr>
        <p:spPr>
          <a:xfrm>
            <a:off x="565763" y="220000"/>
            <a:ext cx="170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b="1">
                <a:solidFill>
                  <a:srgbClr val="BE0000"/>
                </a:solidFill>
                <a:latin typeface="Nanum Gothic Bold"/>
                <a:ea typeface="Nanum Gothic Bold"/>
              </a:rPr>
              <a:t>Limitations &amp; Future Directions</a:t>
            </a:r>
          </a:p>
        </p:txBody>
      </p:sp>
      <p:sp>
        <p:nvSpPr>
          <p:cNvPr id="13" name="SubTitleTB"/>
          <p:cNvSpPr txBox="1"/>
          <p:nvPr/>
        </p:nvSpPr>
        <p:spPr>
          <a:xfrm>
            <a:off x="565763" y="1300000"/>
            <a:ext cx="17000000" cy="6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900">
                <a:solidFill>
                  <a:srgbClr val="555555"/>
                </a:solidFill>
                <a:latin typeface="NanumGothic"/>
                <a:ea typeface="NanumGothic"/>
              </a:rPr>
              <a:t>한계 및 향후 방향</a:t>
            </a:r>
          </a:p>
        </p:txBody>
      </p:sp>
      <p:sp>
        <p:nvSpPr>
          <p:cNvPr id="99" name="LineSep"/>
          <p:cNvSpPr/>
          <p:nvPr/>
        </p:nvSpPr>
        <p:spPr>
          <a:xfrm>
            <a:off x="565763" y="1950000"/>
            <a:ext cx="17195160" cy="0"/>
          </a:xfrm>
          <a:prstGeom prst="line">
            <a:avLst/>
          </a:prstGeom>
          <a:ln w="38100" cap="flat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B20"/>
          <p:cNvSpPr txBox="1"/>
          <p:nvPr/>
        </p:nvSpPr>
        <p:spPr>
          <a:xfrm>
            <a:off x="565763" y="2100000"/>
            <a:ext cx="8200000" cy="75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⚠  한계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1202 레이어에서 오히려 성능 감소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666666"/>
                </a:solidFill>
                <a:latin typeface="NanumGothic"/>
                <a:ea typeface="NanumGothic"/>
              </a:rPr>
              <a:t>   (데이터 규모 대비 모델이 지나치게 큼)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F(x)+x 범식에 대한 이론적 정당화 부족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endParaRPr lang="en-US" sz="1900" b="0" dirty="0">
              <a:solidFill>
                <a:srgbClr val="333333"/>
              </a:solidFill>
              <a:latin typeface="NanumGothic"/>
              <a:ea typeface="NanumGothic"/>
            </a:endParaRP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111111"/>
                </a:solidFill>
                <a:latin typeface="Nanum Gothic Bold"/>
                <a:ea typeface="Nanum Gothic Bold"/>
              </a:rPr>
              <a:t>→  후속 연구 흐름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Wide ResNet — 깊이 대신 폭(너비) 확대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DenseNet — 모든 레이어 연결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ResNeXt — 그룹 합성곱 도입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Pre-activation ResNet — BN·ReLU 순서 재조합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333333"/>
                </a:solidFill>
                <a:latin typeface="NanumGothic"/>
                <a:ea typeface="NanumGothic"/>
              </a:rPr>
              <a:t>   EfficientNet — 깊이/폭/해상도 함께 스케일</a:t>
            </a:r>
          </a:p>
          <a:p>
            <a:pPr algn="l">
              <a:lnSpc>
                <a:spcPts val="2650"/>
              </a:lnSpc>
              <a:spcBef>
                <a:spcPct val="0"/>
              </a:spcBef>
            </a:pPr>
            <a:r>
              <a:rPr lang="en-US" sz="1900" b="1" dirty="0">
                <a:solidFill>
                  <a:srgbClr val="BE0000"/>
                </a:solidFill>
                <a:latin typeface="Nanum Gothic Bold"/>
                <a:ea typeface="Nanum Gothic Bold"/>
              </a:rPr>
              <a:t>   Transformer — 백본에도 Residual 구조 활용!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883C7B58-746C-5352-EF6F-EAF3667946D4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FootText">
            <a:extLst>
              <a:ext uri="{FF2B5EF4-FFF2-40B4-BE49-F238E27FC236}">
                <a16:creationId xmlns:a16="http://schemas.microsoft.com/office/drawing/2014/main" id="{CE8C34BC-8995-FC3A-CFA6-F61CA588C713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8" name="FootLogo">
            <a:extLst>
              <a:ext uri="{FF2B5EF4-FFF2-40B4-BE49-F238E27FC236}">
                <a16:creationId xmlns:a16="http://schemas.microsoft.com/office/drawing/2014/main" id="{96CDB5BF-AC39-719F-1790-7A3B72DBC7E0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8459D35-6654-B867-FC49-4992FD6ED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2159675"/>
            <a:ext cx="5326996" cy="726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G"/>
          <p:cNvSpPr/>
          <p:nvPr/>
        </p:nvSpPr>
        <p:spPr>
          <a:xfrm>
            <a:off x="0" y="-1"/>
            <a:ext cx="18288000" cy="9887905"/>
          </a:xfrm>
          <a:prstGeom prst="rect">
            <a:avLst/>
          </a:prstGeom>
          <a:solidFill>
            <a:srgbClr val="150505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B10"/>
          <p:cNvSpPr txBox="1"/>
          <p:nvPr/>
        </p:nvSpPr>
        <p:spPr>
          <a:xfrm>
            <a:off x="700000" y="280000"/>
            <a:ext cx="16000000" cy="10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000" b="1" dirty="0">
                <a:solidFill>
                  <a:srgbClr val="BE0000"/>
                </a:solidFill>
                <a:latin typeface="Nanum Gothic Bold"/>
                <a:ea typeface="Nanum Gothic Bold"/>
              </a:rPr>
              <a:t>ResNet  |  Summary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700000" y="1300000"/>
            <a:ext cx="16000000" cy="600000"/>
          </a:xfrm>
          <a:prstGeom prst="rect">
            <a:avLst/>
          </a:prstGeom>
        </p:spPr>
        <p:txBody>
          <a:bodyPr lIns="76200" tIns="76200" rIns="76200" bIns="7620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00" b="0" dirty="0">
                <a:solidFill>
                  <a:srgbClr val="888888"/>
                </a:solidFill>
                <a:latin typeface="NanumGothic"/>
                <a:ea typeface="NanumGothic"/>
              </a:rPr>
              <a:t>Deep Residual Learning for Image Recognition  —  He et al., CVPR 2016</a:t>
            </a:r>
          </a:p>
        </p:txBody>
      </p:sp>
      <p:sp>
        <p:nvSpPr>
          <p:cNvPr id="7" name="BoxBG700000"/>
          <p:cNvSpPr/>
          <p:nvPr/>
        </p:nvSpPr>
        <p:spPr>
          <a:xfrm>
            <a:off x="700000" y="2100000"/>
            <a:ext cx="5350000" cy="7500000"/>
          </a:xfrm>
          <a:prstGeom prst="roundRect">
            <a:avLst>
              <a:gd name="adj" fmla="val 30000"/>
            </a:avLst>
          </a:prstGeom>
          <a:solidFill>
            <a:srgbClr val="2A0A0A"/>
          </a:solidFill>
          <a:ln w="19050">
            <a:solidFill>
              <a:srgbClr val="BE0000"/>
            </a:solidFill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7" name="TB207"/>
          <p:cNvSpPr txBox="1"/>
          <p:nvPr/>
        </p:nvSpPr>
        <p:spPr>
          <a:xfrm>
            <a:off x="2625828" y="2327931"/>
            <a:ext cx="1565172" cy="513217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00" b="1" dirty="0">
                <a:solidFill>
                  <a:srgbClr val="BE0000"/>
                </a:solidFill>
                <a:latin typeface="Nanum Gothic Bold"/>
                <a:ea typeface="Nanum Gothic Bold"/>
              </a:rPr>
              <a:t>잔차 학습</a:t>
            </a:r>
          </a:p>
        </p:txBody>
      </p:sp>
      <p:sp>
        <p:nvSpPr>
          <p:cNvPr id="307" name="TB307"/>
          <p:cNvSpPr txBox="1"/>
          <p:nvPr/>
        </p:nvSpPr>
        <p:spPr>
          <a:xfrm>
            <a:off x="1828800" y="3143317"/>
            <a:ext cx="2764000" cy="1218400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H(x) 대신 F(x)를 학습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y = F(x) + x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(Shortcut 연결)</a:t>
            </a:r>
          </a:p>
        </p:txBody>
      </p:sp>
      <p:sp>
        <p:nvSpPr>
          <p:cNvPr id="64" name="BoxBG6450000"/>
          <p:cNvSpPr/>
          <p:nvPr/>
        </p:nvSpPr>
        <p:spPr>
          <a:xfrm>
            <a:off x="6450000" y="2100000"/>
            <a:ext cx="5350000" cy="7500000"/>
          </a:xfrm>
          <a:prstGeom prst="roundRect">
            <a:avLst>
              <a:gd name="adj" fmla="val 30000"/>
            </a:avLst>
          </a:prstGeom>
          <a:solidFill>
            <a:srgbClr val="2A0A0A"/>
          </a:solidFill>
          <a:ln w="19050">
            <a:solidFill>
              <a:srgbClr val="BE0000"/>
            </a:solidFill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4" name="TB264"/>
          <p:cNvSpPr txBox="1"/>
          <p:nvPr/>
        </p:nvSpPr>
        <p:spPr>
          <a:xfrm>
            <a:off x="8405398" y="2261223"/>
            <a:ext cx="1477200" cy="513217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00" b="1" dirty="0">
                <a:solidFill>
                  <a:srgbClr val="BE0000"/>
                </a:solidFill>
                <a:latin typeface="Nanum Gothic Bold"/>
                <a:ea typeface="Nanum Gothic Bold"/>
              </a:rPr>
              <a:t>성능 결과</a:t>
            </a:r>
          </a:p>
        </p:txBody>
      </p:sp>
      <p:sp>
        <p:nvSpPr>
          <p:cNvPr id="364" name="TB364"/>
          <p:cNvSpPr txBox="1"/>
          <p:nvPr/>
        </p:nvSpPr>
        <p:spPr>
          <a:xfrm>
            <a:off x="7577858" y="3063309"/>
            <a:ext cx="4220400" cy="1199816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ResNet-152  Top-5 Error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5.71%  (단일 모델)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3.57%  (앙상블)</a:t>
            </a:r>
          </a:p>
        </p:txBody>
      </p:sp>
      <p:sp>
        <p:nvSpPr>
          <p:cNvPr id="122" name="BoxBG12200000"/>
          <p:cNvSpPr/>
          <p:nvPr/>
        </p:nvSpPr>
        <p:spPr>
          <a:xfrm>
            <a:off x="12200000" y="2100000"/>
            <a:ext cx="5450000" cy="7500000"/>
          </a:xfrm>
          <a:prstGeom prst="roundRect">
            <a:avLst>
              <a:gd name="adj" fmla="val 30000"/>
            </a:avLst>
          </a:prstGeom>
          <a:solidFill>
            <a:srgbClr val="2A0A0A"/>
          </a:solidFill>
          <a:ln w="19050">
            <a:solidFill>
              <a:srgbClr val="BE0000"/>
            </a:solidFill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2" name="TB322"/>
          <p:cNvSpPr txBox="1"/>
          <p:nvPr/>
        </p:nvSpPr>
        <p:spPr>
          <a:xfrm>
            <a:off x="14097000" y="2261223"/>
            <a:ext cx="1975600" cy="513217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00" b="1" dirty="0">
                <a:solidFill>
                  <a:srgbClr val="BE0000"/>
                </a:solidFill>
                <a:latin typeface="Nanum Gothic Bold"/>
                <a:ea typeface="Nanum Gothic Bold"/>
              </a:rPr>
              <a:t>ILSVRC 2015</a:t>
            </a:r>
          </a:p>
        </p:txBody>
      </p:sp>
      <p:sp>
        <p:nvSpPr>
          <p:cNvPr id="422" name="TB422"/>
          <p:cNvSpPr txBox="1"/>
          <p:nvPr/>
        </p:nvSpPr>
        <p:spPr>
          <a:xfrm>
            <a:off x="13335000" y="2971590"/>
            <a:ext cx="3499600" cy="1199816"/>
          </a:xfrm>
          <a:prstGeom prst="rect">
            <a:avLst/>
          </a:prstGeom>
        </p:spPr>
        <p:txBody>
          <a:bodyPr wrap="square" lIns="76200" tIns="76200" rIns="76200" bIns="7620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분류 / 탐지 / 로컬라이제이션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세그멘테이션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900" b="0" dirty="0">
                <a:solidFill>
                  <a:srgbClr val="DDDDDD"/>
                </a:solidFill>
                <a:latin typeface="NanumGothic"/>
                <a:ea typeface="NanumGothic"/>
              </a:rPr>
              <a:t>총 5개 부문 1위</a:t>
            </a:r>
          </a:p>
        </p:txBody>
      </p:sp>
      <p:sp>
        <p:nvSpPr>
          <p:cNvPr id="6" name="FootBar">
            <a:extLst>
              <a:ext uri="{FF2B5EF4-FFF2-40B4-BE49-F238E27FC236}">
                <a16:creationId xmlns:a16="http://schemas.microsoft.com/office/drawing/2014/main" id="{3F2495E8-3752-9D05-FA41-E887C0640657}"/>
              </a:ext>
            </a:extLst>
          </p:cNvPr>
          <p:cNvSpPr/>
          <p:nvPr/>
        </p:nvSpPr>
        <p:spPr>
          <a:xfrm>
            <a:off x="0" y="9837904"/>
            <a:ext cx="18287996" cy="449096"/>
          </a:xfrm>
          <a:custGeom>
            <a:avLst/>
            <a:gdLst/>
            <a:ahLst/>
            <a:cxnLst/>
            <a:rect l="l" t="t" r="r" b="b"/>
            <a:pathLst>
              <a:path w="4816592" h="118281">
                <a:moveTo>
                  <a:pt x="0" y="0"/>
                </a:moveTo>
                <a:lnTo>
                  <a:pt x="4816592" y="0"/>
                </a:lnTo>
                <a:lnTo>
                  <a:pt x="4816592" y="118281"/>
                </a:lnTo>
                <a:lnTo>
                  <a:pt x="0" y="118281"/>
                </a:lnTo>
                <a:close/>
              </a:path>
            </a:pathLst>
          </a:custGeom>
          <a:solidFill>
            <a:srgbClr val="BE0000"/>
          </a:solidFill>
        </p:spPr>
        <p:txBody>
          <a:bodyPr/>
          <a:lstStyle/>
          <a:p>
            <a:endParaRPr lang="ko-Kore-KR" altLang="en-US"/>
          </a:p>
        </p:txBody>
      </p:sp>
      <p:sp>
        <p:nvSpPr>
          <p:cNvPr id="8" name="FootText">
            <a:extLst>
              <a:ext uri="{FF2B5EF4-FFF2-40B4-BE49-F238E27FC236}">
                <a16:creationId xmlns:a16="http://schemas.microsoft.com/office/drawing/2014/main" id="{EC9AE5A6-0C09-3662-B911-55F27B4D343E}"/>
              </a:ext>
            </a:extLst>
          </p:cNvPr>
          <p:cNvSpPr txBox="1"/>
          <p:nvPr/>
        </p:nvSpPr>
        <p:spPr>
          <a:xfrm>
            <a:off x="7643171" y="9935327"/>
            <a:ext cx="3001658" cy="23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7"/>
              </a:lnSpc>
              <a:spcBef>
                <a:spcPct val="0"/>
              </a:spcBef>
            </a:pP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국민대학</a:t>
            </a:r>
            <a:r>
              <a:rPr lang="ko-KR" alt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교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</a:t>
            </a:r>
            <a:r>
              <a:rPr lang="en-US" sz="1462" b="1" dirty="0" err="1">
                <a:solidFill>
                  <a:srgbClr val="FFFFFF"/>
                </a:solidFill>
                <a:latin typeface="Nanum Gothic Bold"/>
                <a:ea typeface="Nanum Gothic Bold"/>
              </a:rPr>
              <a:t>인공지능학회</a:t>
            </a:r>
            <a:r>
              <a:rPr lang="en-US" sz="1462" b="1" dirty="0">
                <a:solidFill>
                  <a:srgbClr val="FFFFFF"/>
                </a:solidFill>
                <a:latin typeface="Nanum Gothic Bold"/>
                <a:ea typeface="Nanum Gothic Bold"/>
              </a:rPr>
              <a:t> X:AI</a:t>
            </a:r>
          </a:p>
        </p:txBody>
      </p:sp>
      <p:sp>
        <p:nvSpPr>
          <p:cNvPr id="9" name="FootLogo">
            <a:extLst>
              <a:ext uri="{FF2B5EF4-FFF2-40B4-BE49-F238E27FC236}">
                <a16:creationId xmlns:a16="http://schemas.microsoft.com/office/drawing/2014/main" id="{CA99F391-8123-6EC7-4FFB-596F02B58942}"/>
              </a:ext>
            </a:extLst>
          </p:cNvPr>
          <p:cNvSpPr/>
          <p:nvPr/>
        </p:nvSpPr>
        <p:spPr>
          <a:xfrm>
            <a:off x="7196858" y="9887905"/>
            <a:ext cx="381000" cy="343234"/>
          </a:xfrm>
          <a:custGeom>
            <a:avLst/>
            <a:gdLst/>
            <a:ahLst/>
            <a:cxnLst/>
            <a:rect l="l" t="t" r="r" b="b"/>
            <a:pathLst>
              <a:path w="305521" h="296737">
                <a:moveTo>
                  <a:pt x="0" y="0"/>
                </a:moveTo>
                <a:lnTo>
                  <a:pt x="305521" y="0"/>
                </a:lnTo>
                <a:lnTo>
                  <a:pt x="305521" y="296737"/>
                </a:lnTo>
                <a:lnTo>
                  <a:pt x="0" y="2967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2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9145" y="415255"/>
            <a:ext cx="17289709" cy="9456489"/>
            <a:chOff x="0" y="0"/>
            <a:chExt cx="4553668" cy="24905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3668" cy="2490598"/>
            </a:xfrm>
            <a:custGeom>
              <a:avLst/>
              <a:gdLst/>
              <a:ahLst/>
              <a:cxnLst/>
              <a:rect l="l" t="t" r="r" b="b"/>
              <a:pathLst>
                <a:path w="4553668" h="2490598">
                  <a:moveTo>
                    <a:pt x="28658" y="0"/>
                  </a:moveTo>
                  <a:lnTo>
                    <a:pt x="4525011" y="0"/>
                  </a:lnTo>
                  <a:cubicBezTo>
                    <a:pt x="4532611" y="0"/>
                    <a:pt x="4539900" y="3019"/>
                    <a:pt x="4545274" y="8394"/>
                  </a:cubicBezTo>
                  <a:cubicBezTo>
                    <a:pt x="4550649" y="13768"/>
                    <a:pt x="4553668" y="21057"/>
                    <a:pt x="4553668" y="28658"/>
                  </a:cubicBezTo>
                  <a:lnTo>
                    <a:pt x="4553668" y="2461940"/>
                  </a:lnTo>
                  <a:cubicBezTo>
                    <a:pt x="4553668" y="2469541"/>
                    <a:pt x="4550649" y="2476830"/>
                    <a:pt x="4545274" y="2482204"/>
                  </a:cubicBezTo>
                  <a:cubicBezTo>
                    <a:pt x="4539900" y="2487579"/>
                    <a:pt x="4532611" y="2490598"/>
                    <a:pt x="4525011" y="2490598"/>
                  </a:cubicBezTo>
                  <a:lnTo>
                    <a:pt x="28658" y="2490598"/>
                  </a:lnTo>
                  <a:cubicBezTo>
                    <a:pt x="21057" y="2490598"/>
                    <a:pt x="13768" y="2487579"/>
                    <a:pt x="8394" y="2482204"/>
                  </a:cubicBezTo>
                  <a:cubicBezTo>
                    <a:pt x="3019" y="2476830"/>
                    <a:pt x="0" y="2469541"/>
                    <a:pt x="0" y="2461940"/>
                  </a:cubicBezTo>
                  <a:lnTo>
                    <a:pt x="0" y="28658"/>
                  </a:lnTo>
                  <a:cubicBezTo>
                    <a:pt x="0" y="21057"/>
                    <a:pt x="3019" y="13768"/>
                    <a:pt x="8394" y="8394"/>
                  </a:cubicBezTo>
                  <a:cubicBezTo>
                    <a:pt x="13768" y="3019"/>
                    <a:pt x="21057" y="0"/>
                    <a:pt x="2865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53668" cy="252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47228" y="784795"/>
            <a:ext cx="698046" cy="677977"/>
          </a:xfrm>
          <a:custGeom>
            <a:avLst/>
            <a:gdLst/>
            <a:ahLst/>
            <a:cxnLst/>
            <a:rect l="l" t="t" r="r" b="b"/>
            <a:pathLst>
              <a:path w="698046" h="677977">
                <a:moveTo>
                  <a:pt x="0" y="0"/>
                </a:moveTo>
                <a:lnTo>
                  <a:pt x="698046" y="0"/>
                </a:lnTo>
                <a:lnTo>
                  <a:pt x="698046" y="677977"/>
                </a:lnTo>
                <a:lnTo>
                  <a:pt x="0" y="677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5062109" y="829106"/>
            <a:ext cx="1514634" cy="54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7" b="1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국민대학교</a:t>
            </a:r>
          </a:p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7" b="1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인공지능학회 X:AI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107090" y="3107411"/>
            <a:ext cx="4073821" cy="585132"/>
            <a:chOff x="0" y="0"/>
            <a:chExt cx="1072940" cy="1541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941" cy="154109"/>
            </a:xfrm>
            <a:custGeom>
              <a:avLst/>
              <a:gdLst/>
              <a:ahLst/>
              <a:cxnLst/>
              <a:rect l="l" t="t" r="r" b="b"/>
              <a:pathLst>
                <a:path w="1072941" h="154109">
                  <a:moveTo>
                    <a:pt x="77054" y="0"/>
                  </a:moveTo>
                  <a:lnTo>
                    <a:pt x="995886" y="0"/>
                  </a:lnTo>
                  <a:cubicBezTo>
                    <a:pt x="1016322" y="0"/>
                    <a:pt x="1035921" y="8118"/>
                    <a:pt x="1050372" y="22569"/>
                  </a:cubicBezTo>
                  <a:cubicBezTo>
                    <a:pt x="1064822" y="37019"/>
                    <a:pt x="1072941" y="56618"/>
                    <a:pt x="1072941" y="77054"/>
                  </a:cubicBezTo>
                  <a:lnTo>
                    <a:pt x="1072941" y="77054"/>
                  </a:lnTo>
                  <a:cubicBezTo>
                    <a:pt x="1072941" y="97491"/>
                    <a:pt x="1064822" y="117090"/>
                    <a:pt x="1050372" y="131540"/>
                  </a:cubicBezTo>
                  <a:cubicBezTo>
                    <a:pt x="1035921" y="145991"/>
                    <a:pt x="1016322" y="154109"/>
                    <a:pt x="995886" y="154109"/>
                  </a:cubicBezTo>
                  <a:lnTo>
                    <a:pt x="77054" y="154109"/>
                  </a:lnTo>
                  <a:cubicBezTo>
                    <a:pt x="56618" y="154109"/>
                    <a:pt x="37019" y="145991"/>
                    <a:pt x="22569" y="131540"/>
                  </a:cubicBezTo>
                  <a:cubicBezTo>
                    <a:pt x="8118" y="117090"/>
                    <a:pt x="0" y="97491"/>
                    <a:pt x="0" y="77054"/>
                  </a:cubicBezTo>
                  <a:lnTo>
                    <a:pt x="0" y="77054"/>
                  </a:lnTo>
                  <a:cubicBezTo>
                    <a:pt x="0" y="56618"/>
                    <a:pt x="8118" y="37019"/>
                    <a:pt x="22569" y="22569"/>
                  </a:cubicBezTo>
                  <a:cubicBezTo>
                    <a:pt x="37019" y="8118"/>
                    <a:pt x="56618" y="0"/>
                    <a:pt x="77054" y="0"/>
                  </a:cubicBezTo>
                  <a:close/>
                </a:path>
              </a:pathLst>
            </a:custGeom>
            <a:solidFill>
              <a:srgbClr val="BE0000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72940" cy="182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73247" y="3154075"/>
            <a:ext cx="3804353" cy="425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 b="1" dirty="0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X:AI </a:t>
            </a:r>
            <a:r>
              <a:rPr lang="en-US" altLang="ko-KR" sz="2575" b="1" dirty="0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1st</a:t>
            </a:r>
            <a:r>
              <a:rPr lang="en-US" sz="2575" b="1" dirty="0">
                <a:solidFill>
                  <a:srgbClr val="FFFFF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 Seminar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22707" y="4305300"/>
            <a:ext cx="7826693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 b="1" spc="825" dirty="0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4629" y="6009800"/>
            <a:ext cx="3898741" cy="104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 err="1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국민대학교</a:t>
            </a:r>
            <a:r>
              <a:rPr lang="en-US" sz="2000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경영정보학부</a:t>
            </a:r>
            <a:endParaRPr lang="en-US" sz="2000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ko-KR" altLang="en-US" sz="2000" dirty="0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유가을 </a:t>
            </a:r>
            <a:endParaRPr lang="en-US" altLang="ko-KR" sz="2000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NanumGothic"/>
                <a:ea typeface="NanumGothic"/>
                <a:cs typeface="NanumGothic"/>
                <a:sym typeface="Nanum Gothic"/>
              </a:rPr>
              <a:t>autumnqp@kookmin.ac.kr</a:t>
            </a:r>
            <a:endParaRPr lang="en-US" sz="2000" dirty="0">
              <a:solidFill>
                <a:srgbClr val="000000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836</Words>
  <Application>Microsoft Macintosh PowerPoint</Application>
  <PresentationFormat>사용자 지정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Nanum Gothic Ultra-Bold</vt:lpstr>
      <vt:lpstr>Calibri</vt:lpstr>
      <vt:lpstr>Nanum Gothic Bold</vt:lpstr>
      <vt:lpstr>NanumGothic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Base Session PPT 양식의 사본</dc:title>
  <cp:lastModifiedBy>유가을(학부생-비즈니스IT전공)</cp:lastModifiedBy>
  <cp:revision>9</cp:revision>
  <dcterms:created xsi:type="dcterms:W3CDTF">2006-08-16T00:00:00Z</dcterms:created>
  <dcterms:modified xsi:type="dcterms:W3CDTF">2026-04-09T11:05:34Z</dcterms:modified>
  <dc:identifier>DAHF-Nm1v2k</dc:identifier>
</cp:coreProperties>
</file>